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6" r:id="rId9"/>
    <p:sldId id="272" r:id="rId10"/>
    <p:sldId id="267" r:id="rId11"/>
    <p:sldId id="275" r:id="rId12"/>
    <p:sldId id="276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44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75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74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8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59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03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1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12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60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697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14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DD150-E37F-4BB9-ACB1-A567C954497C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3AF937-4567-459A-86D1-95B9F276037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61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788E-4DF4-FB36-8AFA-812C0883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45" y="802298"/>
            <a:ext cx="11970328" cy="254143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Image Classification of the Pet Breeds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FA76E-3BFA-7C7F-BC75-154D05751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Muhammad Osama</a:t>
            </a:r>
          </a:p>
        </p:txBody>
      </p:sp>
      <p:pic>
        <p:nvPicPr>
          <p:cNvPr id="1026" name="Picture 2" descr="13+ Thousand Cat Dog Couple Royalty-Free Images, Stock Photos &amp; Pictures |  Shutterstock">
            <a:extLst>
              <a:ext uri="{FF2B5EF4-FFF2-40B4-BE49-F238E27FC236}">
                <a16:creationId xmlns:a16="http://schemas.microsoft.com/office/drawing/2014/main" id="{E1957B28-88CD-915F-FEBE-966A3440A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552" y="3740727"/>
            <a:ext cx="31623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4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D464-A8B2-A3F9-D2EC-64F61DBC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AE04-6475-C64C-994A-5EF672BAE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Classify pet breed from an image.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Similar-looking breeds</a:t>
            </a:r>
          </a:p>
          <a:p>
            <a:pPr lvl="1"/>
            <a:r>
              <a:rPr lang="en-US" dirty="0"/>
              <a:t>Varying backgrounds, lighting, poses</a:t>
            </a:r>
          </a:p>
          <a:p>
            <a:r>
              <a:rPr lang="en-US" dirty="0"/>
              <a:t>Objective: Compare performance of different CNN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6621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8DFA8-4623-D350-60A4-13382ED0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D04E-144F-B898-AC79-49E0DA51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5D8D2-68DC-DB54-D228-5D74B7DBF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Dataset:</a:t>
            </a:r>
            <a:r>
              <a:rPr lang="en-US" dirty="0"/>
              <a:t> Oxford-IIIT Pet Dataset (https://www.robots.ox.ac.uk/~vgg/data/pets/?utm_source=chatgpt.com)</a:t>
            </a:r>
          </a:p>
          <a:p>
            <a:r>
              <a:rPr lang="en-US" dirty="0"/>
              <a:t>37 classes (cats and dogs)</a:t>
            </a:r>
          </a:p>
          <a:p>
            <a:r>
              <a:rPr lang="en-US" dirty="0"/>
              <a:t>~200 images per class (~7400 total)</a:t>
            </a:r>
          </a:p>
          <a:p>
            <a:r>
              <a:rPr lang="en-US" dirty="0"/>
              <a:t>Diverse data with varying backgrounds, lighting and poses</a:t>
            </a:r>
          </a:p>
          <a:p>
            <a:r>
              <a:rPr lang="en-US" b="1" dirty="0"/>
              <a:t>Data Splits:</a:t>
            </a:r>
            <a:endParaRPr lang="en-US" dirty="0"/>
          </a:p>
          <a:p>
            <a:pPr lvl="1"/>
            <a:r>
              <a:rPr lang="en-US" dirty="0"/>
              <a:t>Train: 70% (5177)</a:t>
            </a:r>
          </a:p>
          <a:p>
            <a:pPr lvl="1"/>
            <a:r>
              <a:rPr lang="en-US" dirty="0"/>
              <a:t>Validation: 15% (1102)</a:t>
            </a:r>
          </a:p>
          <a:p>
            <a:pPr lvl="1"/>
            <a:r>
              <a:rPr lang="en-US" dirty="0"/>
              <a:t>Test: 15% (1103)</a:t>
            </a:r>
          </a:p>
        </p:txBody>
      </p:sp>
      <p:pic>
        <p:nvPicPr>
          <p:cNvPr id="5" name="Picture 4" descr="A person petting a dog&#10;&#10;AI-generated content may be incorrect.">
            <a:extLst>
              <a:ext uri="{FF2B5EF4-FFF2-40B4-BE49-F238E27FC236}">
                <a16:creationId xmlns:a16="http://schemas.microsoft.com/office/drawing/2014/main" id="{9DA7ED52-9883-C35B-70A4-BB9DA75AC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933" y="2213512"/>
            <a:ext cx="1783143" cy="1187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8B4DF2-4213-26DD-8701-AB05BFA08349}"/>
              </a:ext>
            </a:extLst>
          </p:cNvPr>
          <p:cNvSpPr txBox="1"/>
          <p:nvPr/>
        </p:nvSpPr>
        <p:spPr>
          <a:xfrm>
            <a:off x="9795162" y="1895747"/>
            <a:ext cx="1706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basset_hound</a:t>
            </a:r>
            <a:endParaRPr lang="en-US" sz="1600" dirty="0"/>
          </a:p>
        </p:txBody>
      </p:sp>
      <p:pic>
        <p:nvPicPr>
          <p:cNvPr id="8" name="Picture 7" descr="A dog sitting next to a plant&#10;&#10;AI-generated content may be incorrect.">
            <a:extLst>
              <a:ext uri="{FF2B5EF4-FFF2-40B4-BE49-F238E27FC236}">
                <a16:creationId xmlns:a16="http://schemas.microsoft.com/office/drawing/2014/main" id="{9B0AEFB4-BC2F-D6DE-AC57-0B25CCB30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933" y="3795470"/>
            <a:ext cx="1783142" cy="11911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D1D880-6E84-1158-C22E-6AE1B57645FA}"/>
              </a:ext>
            </a:extLst>
          </p:cNvPr>
          <p:cNvSpPr txBox="1"/>
          <p:nvPr/>
        </p:nvSpPr>
        <p:spPr>
          <a:xfrm>
            <a:off x="9691255" y="3456916"/>
            <a:ext cx="1706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beagle</a:t>
            </a:r>
          </a:p>
        </p:txBody>
      </p:sp>
      <p:pic>
        <p:nvPicPr>
          <p:cNvPr id="11" name="Picture 10" descr="A dog chewing on a toy&#10;&#10;AI-generated content may be incorrect.">
            <a:extLst>
              <a:ext uri="{FF2B5EF4-FFF2-40B4-BE49-F238E27FC236}">
                <a16:creationId xmlns:a16="http://schemas.microsoft.com/office/drawing/2014/main" id="{D522CDE7-6D7A-7CE1-AA73-4AEC50CD81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419" y="5164985"/>
            <a:ext cx="1783142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9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D439-61EE-FD90-6058-5DD0CB21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0DA1-788B-991F-BF1E-861B4A6B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73288-99FF-5CA0-4FC6-4B9787E06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Resize to 256×256 → center crop to 224×224 37 classes (cats and dogs)</a:t>
            </a:r>
          </a:p>
          <a:p>
            <a:r>
              <a:rPr lang="fr-FR" dirty="0"/>
              <a:t>Data Augmentation:</a:t>
            </a:r>
          </a:p>
          <a:p>
            <a:pPr lvl="1"/>
            <a:r>
              <a:rPr lang="fr-FR" dirty="0" err="1"/>
              <a:t>RandomHorizontalFlip</a:t>
            </a:r>
            <a:endParaRPr lang="fr-FR" dirty="0"/>
          </a:p>
          <a:p>
            <a:pPr lvl="1"/>
            <a:r>
              <a:rPr lang="fr-FR" dirty="0" err="1"/>
              <a:t>RandomRotation</a:t>
            </a:r>
            <a:r>
              <a:rPr lang="fr-FR" dirty="0"/>
              <a:t> (±15°) </a:t>
            </a:r>
          </a:p>
          <a:p>
            <a:r>
              <a:rPr lang="en-US" dirty="0"/>
              <a:t>Normalization using ImageNet mean and std </a:t>
            </a:r>
          </a:p>
          <a:p>
            <a:pPr lvl="1"/>
            <a:r>
              <a:rPr lang="en-US" dirty="0"/>
              <a:t>mean = [0.485, 0.456, 0.406] </a:t>
            </a:r>
          </a:p>
          <a:p>
            <a:pPr lvl="1"/>
            <a:r>
              <a:rPr lang="en-US" dirty="0"/>
              <a:t>std = [0.229, 0.224, 0.225]</a:t>
            </a:r>
          </a:p>
          <a:p>
            <a:r>
              <a:rPr lang="en-US" dirty="0"/>
              <a:t>Label encoding for class IDs</a:t>
            </a:r>
          </a:p>
        </p:txBody>
      </p:sp>
    </p:spTree>
    <p:extLst>
      <p:ext uri="{BB962C8B-B14F-4D97-AF65-F5344CB8AC3E}">
        <p14:creationId xmlns:p14="http://schemas.microsoft.com/office/powerpoint/2010/main" val="141170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C05A-E9EE-5257-D8FE-C9C4EF18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2C23-3D07-1D24-BDCB-9FEC671F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CNN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85F32-C32B-FC27-5E78-6A709EBF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 Convolutional Layers</a:t>
            </a:r>
          </a:p>
          <a:p>
            <a:pPr lvl="1"/>
            <a:r>
              <a:rPr lang="en-US" dirty="0" err="1"/>
              <a:t>BatchNorm</a:t>
            </a:r>
            <a:endParaRPr lang="en-US" dirty="0"/>
          </a:p>
          <a:p>
            <a:pPr lvl="1"/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dirty="0" err="1"/>
              <a:t>MaxPooling</a:t>
            </a:r>
            <a:endParaRPr lang="en-US" dirty="0"/>
          </a:p>
          <a:p>
            <a:r>
              <a:rPr lang="en-US" dirty="0"/>
              <a:t>Adaptive Average Pooling :  Averages each 256-feature map to a 1×1 spatial dimension</a:t>
            </a:r>
          </a:p>
          <a:p>
            <a:r>
              <a:rPr lang="en-US" dirty="0"/>
              <a:t>1 Fully Connected layer + Dropout + Output layer (37 classes)</a:t>
            </a:r>
          </a:p>
        </p:txBody>
      </p:sp>
    </p:spTree>
    <p:extLst>
      <p:ext uri="{BB962C8B-B14F-4D97-AF65-F5344CB8AC3E}">
        <p14:creationId xmlns:p14="http://schemas.microsoft.com/office/powerpoint/2010/main" val="29153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C002A-4B44-BA7D-95D6-63066B81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807A-F8F3-7BBF-0EA8-8103CCC9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Resnet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D00A5-EE8A-CF34-7F17-5C5A578CA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46547" cy="4149541"/>
          </a:xfrm>
        </p:spPr>
        <p:txBody>
          <a:bodyPr>
            <a:noAutofit/>
          </a:bodyPr>
          <a:lstStyle/>
          <a:p>
            <a:r>
              <a:rPr lang="en-US" sz="1400" b="1" dirty="0"/>
              <a:t>ResNet18:</a:t>
            </a:r>
            <a:endParaRPr lang="en-US" sz="1400" dirty="0"/>
          </a:p>
          <a:p>
            <a:r>
              <a:rPr lang="en-US" sz="1400" dirty="0"/>
              <a:t>18-layer CNN with residual blocks</a:t>
            </a:r>
          </a:p>
          <a:p>
            <a:r>
              <a:rPr lang="en-US" sz="1400" dirty="0"/>
              <a:t>Lightweight and fast to train</a:t>
            </a:r>
          </a:p>
          <a:p>
            <a:r>
              <a:rPr lang="en-US" sz="1400" dirty="0"/>
              <a:t>Uses basic residual connections</a:t>
            </a:r>
          </a:p>
          <a:p>
            <a:r>
              <a:rPr lang="en-US" sz="1400" dirty="0"/>
              <a:t>Final FC layer modified for 37 classes</a:t>
            </a:r>
          </a:p>
          <a:p>
            <a:r>
              <a:rPr lang="en-US" sz="1400" dirty="0"/>
              <a:t>Pretrained on ImageNet</a:t>
            </a:r>
          </a:p>
          <a:p>
            <a:r>
              <a:rPr lang="en-US" sz="1400" b="1" dirty="0"/>
              <a:t>ResNet34:</a:t>
            </a:r>
            <a:endParaRPr lang="en-US" sz="1400" dirty="0"/>
          </a:p>
          <a:p>
            <a:r>
              <a:rPr lang="en-US" sz="1400" dirty="0"/>
              <a:t>34-layer CNN with deeper residual stacks</a:t>
            </a:r>
          </a:p>
          <a:p>
            <a:r>
              <a:rPr lang="en-US" sz="1400" dirty="0"/>
              <a:t>Offers better feature extraction than ResNet18</a:t>
            </a:r>
          </a:p>
          <a:p>
            <a:r>
              <a:rPr lang="en-US" sz="1400" dirty="0"/>
              <a:t>Balanced between depth and speed</a:t>
            </a:r>
          </a:p>
          <a:p>
            <a:r>
              <a:rPr lang="en-US" sz="1400" dirty="0"/>
              <a:t>Final FC layer fine-tuned for classification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667324-DC84-7D1E-A71F-D295F30075EE}"/>
              </a:ext>
            </a:extLst>
          </p:cNvPr>
          <p:cNvSpPr txBox="1">
            <a:spLocks/>
          </p:cNvSpPr>
          <p:nvPr/>
        </p:nvSpPr>
        <p:spPr>
          <a:xfrm>
            <a:off x="6723235" y="1904896"/>
            <a:ext cx="3681530" cy="42603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ResNet50:</a:t>
            </a:r>
            <a:endParaRPr lang="en-US" sz="1400" dirty="0"/>
          </a:p>
          <a:p>
            <a:r>
              <a:rPr lang="en-US" sz="1400" dirty="0"/>
              <a:t>50-layer CNN with bottleneck residual blocks</a:t>
            </a:r>
          </a:p>
          <a:p>
            <a:r>
              <a:rPr lang="en-US" sz="1400" dirty="0"/>
              <a:t>Higher abstraction power, better accuracy</a:t>
            </a:r>
          </a:p>
          <a:p>
            <a:r>
              <a:rPr lang="en-US" sz="1400" dirty="0"/>
              <a:t>More computationally expensive</a:t>
            </a:r>
          </a:p>
          <a:p>
            <a:r>
              <a:rPr lang="en-US" sz="1400" dirty="0"/>
              <a:t>Final FC layer adapted for 37-class output</a:t>
            </a:r>
          </a:p>
          <a:p>
            <a:r>
              <a:rPr lang="en-US" sz="1400" dirty="0"/>
              <a:t>1 Fully Connected layer + Dropout + Output layer (37 classes)</a:t>
            </a:r>
          </a:p>
        </p:txBody>
      </p:sp>
    </p:spTree>
    <p:extLst>
      <p:ext uri="{BB962C8B-B14F-4D97-AF65-F5344CB8AC3E}">
        <p14:creationId xmlns:p14="http://schemas.microsoft.com/office/powerpoint/2010/main" val="56653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9CF55-15DF-CBA9-2AD1-C263716F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CACA-5208-120E-40DC-AC00867A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37AF-931A-E347-8C25-D601349A4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Loss Function: </a:t>
            </a:r>
            <a:r>
              <a:rPr lang="en-US" dirty="0" err="1"/>
              <a:t>CrossEntropy</a:t>
            </a:r>
            <a:r>
              <a:rPr lang="en-US" dirty="0"/>
              <a:t> for Multiclass Classification</a:t>
            </a:r>
          </a:p>
          <a:p>
            <a:r>
              <a:rPr lang="en-US" dirty="0" err="1"/>
              <a:t>LossOptimizer</a:t>
            </a:r>
            <a:r>
              <a:rPr lang="en-US" dirty="0"/>
              <a:t>: Adam (</a:t>
            </a:r>
            <a:r>
              <a:rPr lang="en-US" dirty="0" err="1"/>
              <a:t>lr</a:t>
            </a:r>
            <a:r>
              <a:rPr lang="en-US" dirty="0"/>
              <a:t> = 0.001)</a:t>
            </a:r>
          </a:p>
          <a:p>
            <a:r>
              <a:rPr lang="en-US" dirty="0"/>
              <a:t>Scheduler: </a:t>
            </a:r>
            <a:r>
              <a:rPr lang="en-US" dirty="0" err="1"/>
              <a:t>StepLR</a:t>
            </a:r>
            <a:r>
              <a:rPr lang="en-US" dirty="0"/>
              <a:t> (</a:t>
            </a:r>
            <a:r>
              <a:rPr lang="en-US" dirty="0" err="1"/>
              <a:t>step_size</a:t>
            </a:r>
            <a:r>
              <a:rPr lang="en-US" dirty="0"/>
              <a:t>=7, gamma=0.1)</a:t>
            </a:r>
          </a:p>
          <a:p>
            <a:r>
              <a:rPr lang="en-US" dirty="0"/>
              <a:t>Early stopping on validation loss (patience = 5)</a:t>
            </a:r>
          </a:p>
          <a:p>
            <a:r>
              <a:rPr lang="en-US" dirty="0"/>
              <a:t>Models trained on GPU with saved best</a:t>
            </a:r>
          </a:p>
        </p:txBody>
      </p:sp>
    </p:spTree>
    <p:extLst>
      <p:ext uri="{BB962C8B-B14F-4D97-AF65-F5344CB8AC3E}">
        <p14:creationId xmlns:p14="http://schemas.microsoft.com/office/powerpoint/2010/main" val="165096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CABF-E2D2-B228-2459-8D37125D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CF0E-14C9-9A77-61F5-8D4E7DDC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of Custom CNN</a:t>
            </a:r>
          </a:p>
        </p:txBody>
      </p:sp>
      <p:pic>
        <p:nvPicPr>
          <p:cNvPr id="7" name="Content Placeholder 6" descr="A collage of different animals&#10;&#10;AI-generated content may be incorrect.">
            <a:extLst>
              <a:ext uri="{FF2B5EF4-FFF2-40B4-BE49-F238E27FC236}">
                <a16:creationId xmlns:a16="http://schemas.microsoft.com/office/drawing/2014/main" id="{67D758D2-7073-DC0C-C587-67B37D249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1384805"/>
            <a:ext cx="9978421" cy="4668676"/>
          </a:xfrm>
        </p:spPr>
      </p:pic>
    </p:spTree>
    <p:extLst>
      <p:ext uri="{BB962C8B-B14F-4D97-AF65-F5344CB8AC3E}">
        <p14:creationId xmlns:p14="http://schemas.microsoft.com/office/powerpoint/2010/main" val="156933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B80C5-AEDA-33CA-ADD5-0B7039A5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378D-7305-43A3-1D97-EACA3CEE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39" y="478660"/>
            <a:ext cx="10651188" cy="1049235"/>
          </a:xfrm>
        </p:spPr>
        <p:txBody>
          <a:bodyPr/>
          <a:lstStyle/>
          <a:p>
            <a:r>
              <a:rPr lang="en-US" dirty="0"/>
              <a:t>Confusion Matrix &amp; Classification Report CNN</a:t>
            </a:r>
          </a:p>
        </p:txBody>
      </p:sp>
      <p:pic>
        <p:nvPicPr>
          <p:cNvPr id="6" name="Content Placeholder 5" descr="A close-up of a grid&#10;&#10;AI-generated content may be incorrect.">
            <a:extLst>
              <a:ext uri="{FF2B5EF4-FFF2-40B4-BE49-F238E27FC236}">
                <a16:creationId xmlns:a16="http://schemas.microsoft.com/office/drawing/2014/main" id="{F8800DEA-33AA-C104-30A7-1DD9766A9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18" y="1767724"/>
            <a:ext cx="5714999" cy="4308671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7B2E7-94BD-F015-0803-AA95570A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39" y="1856509"/>
            <a:ext cx="4756079" cy="42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04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ED08-9D48-D7FE-F058-5B8B607E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67ED-93B5-0579-4D2F-002042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of RESNET34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6984B1-9771-EA92-CAE0-4BF74DA56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1579" y="1384805"/>
            <a:ext cx="9978421" cy="4668676"/>
          </a:xfrm>
        </p:spPr>
      </p:pic>
    </p:spTree>
    <p:extLst>
      <p:ext uri="{BB962C8B-B14F-4D97-AF65-F5344CB8AC3E}">
        <p14:creationId xmlns:p14="http://schemas.microsoft.com/office/powerpoint/2010/main" val="835894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E044A-0684-EDD0-CA63-6E2845D15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FBDF-1BCB-5A3C-3DA3-8948A831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39" y="478660"/>
            <a:ext cx="10651188" cy="1049235"/>
          </a:xfrm>
        </p:spPr>
        <p:txBody>
          <a:bodyPr/>
          <a:lstStyle/>
          <a:p>
            <a:r>
              <a:rPr lang="en-US" dirty="0"/>
              <a:t>Confusion Matrix &amp; Classification Report CNN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D6E913-BC46-1BE2-DD0F-2414FF879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9418" y="1767724"/>
            <a:ext cx="5714999" cy="430867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EABF5B-0502-A065-578E-C1C790085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20" y="1767724"/>
            <a:ext cx="4571998" cy="430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3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84DF0-1C9D-B8C2-D7FC-0FC066DC7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D752-69AD-F270-ED78-3B0729F4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2574"/>
            <a:ext cx="9603275" cy="1049235"/>
          </a:xfrm>
        </p:spPr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7" name="Content Placeholder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AB9DFFB-9B88-9D46-DFF1-95B4BCE14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32" y="1059873"/>
            <a:ext cx="6060853" cy="2645713"/>
          </a:xfr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0339625F-7C14-CD2C-0A9D-60934134C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31" y="3705584"/>
            <a:ext cx="6060853" cy="2645713"/>
          </a:xfrm>
          <a:prstGeom prst="rect">
            <a:avLst/>
          </a:prstGeom>
        </p:spPr>
      </p:pic>
      <p:pic>
        <p:nvPicPr>
          <p:cNvPr id="11" name="Picture 10" descr="A graph of a graph and a graph of a graph&#10;&#10;AI-generated content may be incorrect.">
            <a:extLst>
              <a:ext uri="{FF2B5EF4-FFF2-40B4-BE49-F238E27FC236}">
                <a16:creationId xmlns:a16="http://schemas.microsoft.com/office/drawing/2014/main" id="{DAA87AC9-776C-130E-6FC1-C80B32E3E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183" y="3705583"/>
            <a:ext cx="5908304" cy="2645712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5ADFF16D-08C9-B27D-4B5A-A85692917A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184" y="1059873"/>
            <a:ext cx="5908304" cy="264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39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0185-E408-CFC8-37E8-0E33E208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1079-1AF4-FCFC-AC48-6C0F4758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2818973-8162-C502-E8EB-53E5EA87F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46" y="1406236"/>
            <a:ext cx="10064254" cy="4710546"/>
          </a:xfrm>
        </p:spPr>
      </p:pic>
    </p:spTree>
    <p:extLst>
      <p:ext uri="{BB962C8B-B14F-4D97-AF65-F5344CB8AC3E}">
        <p14:creationId xmlns:p14="http://schemas.microsoft.com/office/powerpoint/2010/main" val="276760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3A92-82C8-D49B-F0E9-EFB7304F3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7B56-9EBB-5525-58E7-5E6D521F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FE01B-2916-3871-0E70-F6C285595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 models significantly outperform Custom CNN</a:t>
            </a:r>
          </a:p>
          <a:p>
            <a:r>
              <a:rPr lang="en-US" dirty="0"/>
              <a:t>ResNet34 strikes a good balance between speed and accuracy</a:t>
            </a:r>
          </a:p>
          <a:p>
            <a:r>
              <a:rPr lang="en-US" dirty="0"/>
              <a:t>ResNet50 slightly better but heavier</a:t>
            </a:r>
          </a:p>
          <a:p>
            <a:r>
              <a:rPr lang="en-US" dirty="0"/>
              <a:t>Transfer learning dramatically improves performance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4CE3DE-08BB-B73A-0F2E-3A2004745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263118"/>
              </p:ext>
            </p:extLst>
          </p:nvPr>
        </p:nvGraphicFramePr>
        <p:xfrm>
          <a:off x="1451579" y="4286795"/>
          <a:ext cx="9604376" cy="10947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1094">
                  <a:extLst>
                    <a:ext uri="{9D8B030D-6E8A-4147-A177-3AD203B41FA5}">
                      <a16:colId xmlns:a16="http://schemas.microsoft.com/office/drawing/2014/main" val="2024412293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511568470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2247010495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3140249192"/>
                    </a:ext>
                  </a:extLst>
                </a:gridCol>
              </a:tblGrid>
              <a:tr h="2189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Accuracy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Depth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Training Epochs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014196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Custom CNN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~30.46%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 Conv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0110162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ResNet18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~88.76%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6292907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ResNet34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~90.57%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480102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ResNet50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~92.38%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23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4302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132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9187-A29A-5418-4767-F5A0F992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2667954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896807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179</TotalTime>
  <Words>435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Gill Sans MT</vt:lpstr>
      <vt:lpstr>Gallery</vt:lpstr>
      <vt:lpstr>Image Classification of the Pet Breeds</vt:lpstr>
      <vt:lpstr>Problem Statement</vt:lpstr>
      <vt:lpstr>Dataset Overview</vt:lpstr>
      <vt:lpstr>Preprocessing</vt:lpstr>
      <vt:lpstr>Custom CNN Architecture</vt:lpstr>
      <vt:lpstr>Resnet Architecture</vt:lpstr>
      <vt:lpstr>Methodology</vt:lpstr>
      <vt:lpstr>Prediction of Custom CNN</vt:lpstr>
      <vt:lpstr>Confusion Matrix &amp; Classification Report CNN</vt:lpstr>
      <vt:lpstr>Prediction of RESNET34</vt:lpstr>
      <vt:lpstr>Confusion Matrix &amp; Classification Report CNN</vt:lpstr>
      <vt:lpstr>Evaluation Metrics</vt:lpstr>
      <vt:lpstr>Evaluation Metrics</vt:lpstr>
      <vt:lpstr>Model Comparison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Osama, Muhammad</dc:creator>
  <cp:lastModifiedBy>Osama, Muhammad</cp:lastModifiedBy>
  <cp:revision>29</cp:revision>
  <dcterms:created xsi:type="dcterms:W3CDTF">2025-08-05T02:02:32Z</dcterms:created>
  <dcterms:modified xsi:type="dcterms:W3CDTF">2025-08-05T21:56:30Z</dcterms:modified>
</cp:coreProperties>
</file>